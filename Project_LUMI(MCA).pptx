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792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2743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BDCFF"/>
                </a:solidFill>
                <a:latin typeface="Aptos"/>
              </a:rPr>
              <a:t>PROJECT</a:t>
            </a:r>
            <a:r>
              <a:rPr sz="1100" b="1" dirty="0">
                <a:solidFill>
                  <a:srgbClr val="4BDCFF"/>
                </a:solidFill>
                <a:latin typeface="Aptos"/>
              </a:rPr>
              <a:t> </a:t>
            </a:r>
            <a:r>
              <a:rPr lang="en-US" sz="1100" b="1" dirty="0">
                <a:solidFill>
                  <a:srgbClr val="4BDCFF"/>
                </a:solidFill>
                <a:latin typeface="Aptos"/>
              </a:rPr>
              <a:t>   </a:t>
            </a:r>
            <a:r>
              <a:rPr sz="2800" b="1" dirty="0">
                <a:solidFill>
                  <a:srgbClr val="4BDCFF"/>
                </a:solidFill>
                <a:latin typeface="Aptos"/>
              </a:rPr>
              <a:t>LUMI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6492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dirty="0">
                <a:solidFill>
                  <a:srgbClr val="F5F7FC"/>
                </a:solidFill>
                <a:latin typeface="Aptos"/>
              </a:rPr>
              <a:t>Learning Using
Multiple Inferences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5852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6B1C9"/>
                </a:solidFill>
                <a:latin typeface="Aptos"/>
              </a:rPr>
              <a:t>A personal learning platform that turns your own study material into an interactive learning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914400"/>
            <a:ext cx="4069080" cy="498348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2344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DCFF"/>
                </a:solidFill>
                <a:latin typeface="Aptos"/>
              </a:rPr>
              <a:t>LUMI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9164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C"/>
                </a:solidFill>
                <a:latin typeface="Aptos"/>
              </a:rPr>
              <a:t>Good evening, Khushi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1762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C9"/>
                </a:solidFill>
                <a:latin typeface="Aptos"/>
              </a:rPr>
              <a:t>Continue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5176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90688" y="2770632"/>
            <a:ext cx="201168" cy="201168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2724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Upload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227832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90688" y="3346703"/>
            <a:ext cx="201168" cy="201168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330098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Ask a Doubt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803904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90688" y="3922776"/>
            <a:ext cx="201168" cy="201168"/>
          </a:xfrm>
          <a:prstGeom prst="ellipse">
            <a:avLst/>
          </a:prstGeom>
          <a:solidFill>
            <a:srgbClr val="F566BE"/>
          </a:solidFill>
          <a:ln>
            <a:solidFill>
              <a:srgbClr val="F5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387705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Explain Simply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379976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90688" y="4498848"/>
            <a:ext cx="201168" cy="201168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4531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Generate Quiz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495604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90688" y="5074920"/>
            <a:ext cx="201168" cy="201168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502920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Revision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From notes → understanding → practice → revision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6473952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4400" b="1">
                <a:solidFill>
                  <a:srgbClr val="F5F7FC"/>
                </a:solidFill>
                <a:latin typeface="Aptos"/>
              </a:rPr>
              <a:t>Learning Using Multiple Inferences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14462"/>
            <a:ext cx="4114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BDCFF"/>
                </a:solidFill>
                <a:latin typeface="Aptos"/>
              </a:rPr>
              <a:t>01  •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C"/>
                </a:solidFill>
                <a:latin typeface="Aptos Display"/>
              </a:rPr>
              <a:t>Why Is Studying Still So Fragmented?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Students have information everywhere — but learning is rarely one connected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2633472"/>
            <a:ext cx="320040" cy="32004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06324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1C9"/>
                </a:solidFill>
                <a:latin typeface="Aptos"/>
              </a:rPr>
              <a:t>PDF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832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C"/>
                </a:solidFill>
                <a:latin typeface="Aptos"/>
              </a:rPr>
              <a:t>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42316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136392" y="2633472"/>
            <a:ext cx="320040" cy="32004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6392" y="306324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1C9"/>
                </a:solidFill>
                <a:latin typeface="Aptos"/>
              </a:rPr>
              <a:t>WEB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33832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C"/>
                </a:solidFill>
                <a:latin typeface="Aptos"/>
              </a:rPr>
              <a:t>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42316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376672" y="2633472"/>
            <a:ext cx="320040" cy="320040"/>
          </a:xfrm>
          <a:prstGeom prst="ellipse">
            <a:avLst/>
          </a:prstGeom>
          <a:solidFill>
            <a:srgbClr val="F566BE"/>
          </a:solidFill>
          <a:ln>
            <a:solidFill>
              <a:srgbClr val="F5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76672" y="306324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1C9"/>
                </a:solidFill>
                <a:latin typeface="Aptos"/>
              </a:rPr>
              <a:t>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3832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C"/>
                </a:solidFill>
                <a:latin typeface="Aptos"/>
              </a:rPr>
              <a:t>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42316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16952" y="2633472"/>
            <a:ext cx="320040" cy="320040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16952" y="306324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1C9"/>
                </a:solidFill>
                <a:latin typeface="Aptos"/>
              </a:rPr>
              <a:t>QUIZ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33832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C"/>
                </a:solidFill>
                <a:latin typeface="Aptos"/>
              </a:rPr>
              <a:t>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42316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57232" y="2633472"/>
            <a:ext cx="320040" cy="32004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57232" y="306324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1C9"/>
                </a:solidFill>
                <a:latin typeface="Aptos"/>
              </a:rPr>
              <a:t>CALENDAR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33832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C"/>
                </a:solidFill>
                <a:latin typeface="Aptos"/>
              </a:rPr>
              <a:t>Revise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28346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B1C9"/>
                </a:solidFill>
                <a:latin typeface="Aptos"/>
              </a:rPr>
              <a:t>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28346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A6B1C9"/>
                </a:solidFill>
                <a:latin typeface="Aptos"/>
              </a:rPr>
              <a:t>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28346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B1C9"/>
                </a:solidFill>
                <a:latin typeface="Aptos"/>
              </a:rPr>
              <a:t>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0888" y="28346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B1C9"/>
                </a:solidFill>
                <a:latin typeface="Aptos"/>
              </a:rPr>
              <a:t>↔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4617720"/>
            <a:ext cx="100584" cy="100584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4572000"/>
            <a:ext cx="10012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Switching between tools breaks study flow.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330952"/>
            <a:ext cx="100584" cy="100584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5285232"/>
            <a:ext cx="10012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Complex concepts often need multiple explanations.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6044184"/>
            <a:ext cx="100584" cy="100584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5998464"/>
            <a:ext cx="10012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Revision is easy to postpone without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6614" y="331962"/>
            <a:ext cx="4114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BDCFF"/>
                </a:solidFill>
                <a:latin typeface="Aptos"/>
              </a:rPr>
              <a:t>02  • 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C"/>
                </a:solidFill>
                <a:latin typeface="Aptos Display"/>
              </a:rPr>
              <a:t>One Learning Flow. Five Powerful Moments.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Lumi connects the complete journey around the student's own material.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514600"/>
            <a:ext cx="658368" cy="658368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66090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915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3075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C9"/>
                </a:solidFill>
                <a:latin typeface="Aptos"/>
              </a:rPr>
              <a:t>Your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B1C9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953512" y="2514600"/>
            <a:ext cx="658368" cy="658368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266090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915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33832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73075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C9"/>
                </a:solidFill>
                <a:latin typeface="Aptos"/>
              </a:rPr>
              <a:t>Your doubts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6791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B1C9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221224" y="2514600"/>
            <a:ext cx="658368" cy="658368"/>
          </a:xfrm>
          <a:prstGeom prst="ellipse">
            <a:avLst/>
          </a:prstGeom>
          <a:solidFill>
            <a:srgbClr val="F566BE"/>
          </a:solidFill>
          <a:ln>
            <a:solidFill>
              <a:srgbClr val="F5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1224" y="266090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91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33832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SIMPLIFY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73075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C9"/>
                </a:solidFill>
                <a:latin typeface="Aptos"/>
              </a:rPr>
              <a:t>Complex ideas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6791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B1C9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7488936" y="2514600"/>
            <a:ext cx="658368" cy="658368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8936" y="266090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915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33832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5" y="373075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C9"/>
                </a:solidFill>
                <a:latin typeface="Aptos"/>
              </a:rPr>
              <a:t>Interactive quiz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26791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B1C9"/>
                </a:solidFill>
                <a:latin typeface="Aptos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9756648" y="2514600"/>
            <a:ext cx="658368" cy="658368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56648" y="266090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0915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3832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REVISE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373075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C9"/>
                </a:solidFill>
                <a:latin typeface="Aptos"/>
              </a:rPr>
              <a:t>Study 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03120" y="4892040"/>
            <a:ext cx="8001000" cy="73152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23160" y="50749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C"/>
                </a:solidFill>
                <a:latin typeface="Aptos"/>
              </a:rPr>
              <a:t>The student stays in one environment while the learning mode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2308"/>
            <a:ext cx="4114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BDCFF"/>
                </a:solidFill>
                <a:latin typeface="Aptos"/>
              </a:rPr>
              <a:t>03  • 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C"/>
                </a:solidFill>
                <a:latin typeface="Aptos Display"/>
              </a:rPr>
              <a:t>Turn Your Notes Into Your Own Learning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Lumi starts with what the student is actually studying.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4754880" cy="342900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7FC"/>
                </a:solidFill>
                <a:latin typeface="Aptos"/>
              </a:rPr>
              <a:t>Drop your study material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BDCFF"/>
                </a:solidFill>
                <a:latin typeface="Aptos"/>
              </a:rPr>
              <a:t>TXT   •   PDF   •   DOCX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703320"/>
            <a:ext cx="3383280" cy="566928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3849624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C"/>
                </a:solidFill>
                <a:latin typeface="Aptos"/>
              </a:rPr>
              <a:t>+  Upload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7091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CE8A6"/>
                </a:solidFill>
                <a:latin typeface="Aptos"/>
              </a:rPr>
              <a:t>✓ Operating_Systems.pdf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6B1C9"/>
                </a:solidFill>
                <a:latin typeface="Aptos"/>
              </a:rPr>
              <a:t>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BDCFF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240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A6B1C9"/>
                </a:solidFill>
                <a:latin typeface="Aptos"/>
              </a:rPr>
              <a:t>TEXT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BDCF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1760" y="2199930"/>
            <a:ext cx="118872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5F7FC"/>
                </a:solidFill>
                <a:latin typeface="Aptos"/>
              </a:rPr>
              <a:t>KNOWLEDGE
</a:t>
            </a:r>
            <a:r>
              <a:rPr sz="1000" b="1" dirty="0">
                <a:solidFill>
                  <a:srgbClr val="F5F7FC"/>
                </a:solidFill>
                <a:latin typeface="Aptos"/>
              </a:rPr>
              <a:t>BASE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200400"/>
            <a:ext cx="100584" cy="100584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4709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Automatically extracts text from supported files.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913632"/>
            <a:ext cx="100584" cy="100584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867912"/>
            <a:ext cx="4709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Creates a custom knowledge base from uploaded material.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4626864"/>
            <a:ext cx="100584" cy="100584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595658"/>
            <a:ext cx="4709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Keeps learning grounded in the student's course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99740"/>
            <a:ext cx="4114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BDCFF"/>
                </a:solidFill>
                <a:latin typeface="Aptos"/>
              </a:rPr>
              <a:t>04  • 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F5F7FC"/>
                </a:solidFill>
                <a:latin typeface="Aptos Display"/>
              </a:rPr>
              <a:t>Stuck on a Doubt? Just Ask Lumi.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A direct conversational path from confusion to clarity.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6583680" cy="379476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1C9"/>
                </a:solidFill>
                <a:latin typeface="Aptos"/>
              </a:rPr>
              <a:t>Lumi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880360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0723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What is process scheduling?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794760"/>
            <a:ext cx="4800600" cy="1097280"/>
          </a:xfrm>
          <a:prstGeom prst="roundRect">
            <a:avLst>
              <a:gd name="adj" fmla="val 12000"/>
            </a:avLst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4050791"/>
            <a:ext cx="4251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It is the method an OS uses to decide which
process gets CPU time and when.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212080"/>
            <a:ext cx="5394960" cy="438912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5321808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1C9"/>
                </a:solidFill>
                <a:latin typeface="Aptos"/>
              </a:rPr>
              <a:t>Ask another question…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5294376"/>
            <a:ext cx="274320" cy="27432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2402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BDC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C"/>
                </a:solidFill>
                <a:latin typeface="Aptos"/>
              </a:rPr>
              <a:t>Less searching.
More understanding.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7909560" y="4023359"/>
            <a:ext cx="100584" cy="100584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3992153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Ask questions directly while studying.</a:t>
            </a:r>
          </a:p>
        </p:txBody>
      </p:sp>
      <p:sp>
        <p:nvSpPr>
          <p:cNvPr id="20" name="Oval 19"/>
          <p:cNvSpPr/>
          <p:nvPr/>
        </p:nvSpPr>
        <p:spPr>
          <a:xfrm>
            <a:off x="7909560" y="4736592"/>
            <a:ext cx="100584" cy="100584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4690872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Use available course context for relevant answers.</a:t>
            </a:r>
          </a:p>
        </p:txBody>
      </p:sp>
      <p:sp>
        <p:nvSpPr>
          <p:cNvPr id="22" name="Oval 21"/>
          <p:cNvSpPr/>
          <p:nvPr/>
        </p:nvSpPr>
        <p:spPr>
          <a:xfrm>
            <a:off x="7909560" y="5449824"/>
            <a:ext cx="100584" cy="100584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5404104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Move from doubt → explanation without breaking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00746"/>
            <a:ext cx="4114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BDCFF"/>
                </a:solidFill>
                <a:latin typeface="Aptos"/>
              </a:rPr>
              <a:t>05  • 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F5F7FC"/>
                </a:solidFill>
                <a:latin typeface="Aptos Display"/>
              </a:rPr>
              <a:t>Complex Concepts. Made Simple.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Switch explanation depth when the topic becomes too technical.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4800600" cy="356616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1C9"/>
                </a:solidFill>
                <a:latin typeface="Aptos"/>
              </a:rPr>
              <a:t>Explanation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063240"/>
            <a:ext cx="2743200" cy="530352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21868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Standard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063240"/>
            <a:ext cx="1234440" cy="530352"/>
          </a:xfrm>
          <a:prstGeom prst="roundRect">
            <a:avLst>
              <a:gd name="adj" fmla="val 12000"/>
            </a:avLst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321868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C"/>
                </a:solidFill>
                <a:latin typeface="Aptos"/>
              </a:rPr>
              <a:t>ELI10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C"/>
                </a:solidFill>
                <a:latin typeface="Aptos"/>
              </a:rPr>
              <a:t>Explain Like I'm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6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Break the theory into smaller ideas,
plain language, and relatable examples.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6B1C9"/>
                </a:solidFill>
                <a:latin typeface="Aptos"/>
              </a:rPr>
              <a:t>COMPLEX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26771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BDCF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3317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6B1C9"/>
                </a:solidFill>
                <a:latin typeface="Aptos"/>
              </a:rPr>
              <a:t>CLEAR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26080"/>
            <a:ext cx="4709160" cy="205740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24612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BDCFF"/>
                </a:solidFill>
                <a:latin typeface="Aptos"/>
              </a:rPr>
              <a:t>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03320"/>
            <a:ext cx="4023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C"/>
                </a:solidFill>
                <a:latin typeface="Aptos"/>
              </a:rPr>
              <a:t>“Imagine the CPU as a teacher
deciding which student speaks next.”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4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1C9"/>
                </a:solidFill>
                <a:latin typeface="Aptos"/>
              </a:rPr>
              <a:t>Simple language • Smaller steps • Better 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73952"/>
            <a:ext cx="25603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BDCFF"/>
                </a:solidFill>
                <a:latin typeface="Aptos"/>
              </a:rPr>
              <a:t>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95386"/>
            <a:ext cx="4114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BDCFF"/>
                </a:solidFill>
                <a:latin typeface="Aptos"/>
              </a:rPr>
              <a:t>06  • 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772" y="868680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C"/>
                </a:solidFill>
                <a:latin typeface="Aptos Display"/>
              </a:rPr>
              <a:t>Read Less. Practice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Generate interactive assessments directly from the material.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26194"/>
            <a:ext cx="6400800" cy="393192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DCFF"/>
                </a:solidFill>
                <a:latin typeface="Aptos"/>
              </a:rPr>
              <a:t>QUIZ  •  OPERATING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C"/>
                </a:solidFill>
                <a:latin typeface="Aptos"/>
              </a:rPr>
              <a:t>Which component manages the allocation
of CPU time among processes?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703320"/>
            <a:ext cx="2468880" cy="438912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52728" y="3803904"/>
            <a:ext cx="228600" cy="2286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3845052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5F7FC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9933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Scheduler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33672"/>
            <a:ext cx="2468880" cy="438912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52728" y="4334256"/>
            <a:ext cx="228600" cy="2286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52728" y="4375404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5F7FC"/>
                </a:solidFill>
                <a:latin typeface="Apto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29684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Compiler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764024"/>
            <a:ext cx="2468880" cy="438912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52728" y="4864608"/>
            <a:ext cx="228600" cy="2286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52728" y="4905756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5F7FC"/>
                </a:solidFill>
                <a:latin typeface="Apto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60036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Loader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294376"/>
            <a:ext cx="2468880" cy="438912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52728" y="5394960"/>
            <a:ext cx="228600" cy="2286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52728" y="5436108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5F7FC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39038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2402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E8A6"/>
                </a:solidFill>
                <a:latin typeface="Aptos"/>
              </a:rPr>
              <a:t>ACTIVE 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74320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C"/>
                </a:solidFill>
                <a:latin typeface="Aptos"/>
              </a:rPr>
              <a:t>Read → Remember →
Check yourself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0" y="4114800"/>
            <a:ext cx="100584" cy="100584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92440" y="4069080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Questions are generated from uploaded material.</a:t>
            </a:r>
          </a:p>
        </p:txBody>
      </p:sp>
      <p:sp>
        <p:nvSpPr>
          <p:cNvPr id="30" name="Oval 29"/>
          <p:cNvSpPr/>
          <p:nvPr/>
        </p:nvSpPr>
        <p:spPr>
          <a:xfrm>
            <a:off x="7863840" y="4828032"/>
            <a:ext cx="100584" cy="100584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4782312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Interactive format encourages active recall.</a:t>
            </a:r>
          </a:p>
        </p:txBody>
      </p:sp>
      <p:sp>
        <p:nvSpPr>
          <p:cNvPr id="32" name="Oval 31"/>
          <p:cNvSpPr/>
          <p:nvPr/>
        </p:nvSpPr>
        <p:spPr>
          <a:xfrm>
            <a:off x="7863840" y="5541264"/>
            <a:ext cx="100584" cy="100584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440" y="5495544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Immediate practice reveals knowledge gaps.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473952"/>
            <a:ext cx="25603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BDCFF"/>
                </a:solidFill>
                <a:latin typeface="Aptos"/>
              </a:rPr>
              <a:t>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99740"/>
            <a:ext cx="4114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BDCFF"/>
                </a:solidFill>
                <a:latin typeface="Aptos"/>
              </a:rPr>
              <a:t>07  • 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C"/>
                </a:solidFill>
                <a:latin typeface="Aptos Display"/>
              </a:rPr>
              <a:t>Never Wonder “What Should I Revise?”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Turn a pile of topics into a structured review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6858000" cy="379476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BDCFF"/>
                </a:solidFill>
                <a:latin typeface="Aptos"/>
              </a:rPr>
              <a:t>WEEKLY REVISION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6B1C9"/>
                </a:solidFill>
                <a:latin typeface="Aptos"/>
              </a:rPr>
              <a:t>MON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337560"/>
            <a:ext cx="822960" cy="1600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35024" y="3611880"/>
            <a:ext cx="256032" cy="256032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160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262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A6B1C9"/>
                </a:solidFill>
                <a:latin typeface="Aptos"/>
              </a:rP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2608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6B1C9"/>
                </a:solidFill>
                <a:latin typeface="Aptos"/>
              </a:rPr>
              <a:t>TUE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337560"/>
            <a:ext cx="822960" cy="1600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69464" y="3611880"/>
            <a:ext cx="256032" cy="256032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4160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C++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5262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A6B1C9"/>
                </a:solidFill>
                <a:latin typeface="Aptos"/>
              </a:rPr>
              <a:t>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92608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6B1C9"/>
                </a:solidFill>
                <a:latin typeface="Aptos"/>
              </a:rPr>
              <a:t>WED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337560"/>
            <a:ext cx="822960" cy="1600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03904" y="3611880"/>
            <a:ext cx="256032" cy="256032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4160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DBMS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5262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A6B1C9"/>
                </a:solidFill>
                <a:latin typeface="Aptos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92608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6B1C9"/>
                </a:solidFill>
                <a:latin typeface="Aptos"/>
              </a:rPr>
              <a:t>THU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337560"/>
            <a:ext cx="822960" cy="1600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38344" y="3611880"/>
            <a:ext cx="256032" cy="256032"/>
          </a:xfrm>
          <a:prstGeom prst="ellipse">
            <a:avLst/>
          </a:prstGeom>
          <a:solidFill>
            <a:srgbClr val="F566BE"/>
          </a:solidFill>
          <a:ln>
            <a:solidFill>
              <a:srgbClr val="F5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4160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5262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A6B1C9"/>
                </a:solidFill>
                <a:latin typeface="Aptos"/>
              </a:rPr>
              <a:t>Quiz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92608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6B1C9"/>
                </a:solidFill>
                <a:latin typeface="Aptos"/>
              </a:rPr>
              <a:t>FRI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337560"/>
            <a:ext cx="822960" cy="1600200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72784" y="3611880"/>
            <a:ext cx="256032" cy="256032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4160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5262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A6B1C9"/>
                </a:solidFill>
                <a:latin typeface="Aptos"/>
              </a:rPr>
              <a:t>Revisit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212080"/>
            <a:ext cx="5760720" cy="384048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0160" y="530352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E8A6"/>
                </a:solidFill>
                <a:latin typeface="Aptos"/>
              </a:rPr>
              <a:t>Progress  •  68% of this week's plan completed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23317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6EFF"/>
                </a:solidFill>
                <a:latin typeface="Aptos"/>
              </a:rPr>
              <a:t>FROM TOPICS TO HABITS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27889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7FC"/>
                </a:solidFill>
                <a:latin typeface="Aptos"/>
              </a:rPr>
              <a:t>A clear next step
reduces study friction.</a:t>
            </a:r>
          </a:p>
        </p:txBody>
      </p:sp>
      <p:sp>
        <p:nvSpPr>
          <p:cNvPr id="38" name="Oval 37"/>
          <p:cNvSpPr/>
          <p:nvPr/>
        </p:nvSpPr>
        <p:spPr>
          <a:xfrm>
            <a:off x="8092440" y="4114800"/>
            <a:ext cx="100584" cy="100584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4069080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Creates structured study and review schedules.</a:t>
            </a:r>
          </a:p>
        </p:txBody>
      </p:sp>
      <p:sp>
        <p:nvSpPr>
          <p:cNvPr id="40" name="Oval 39"/>
          <p:cNvSpPr/>
          <p:nvPr/>
        </p:nvSpPr>
        <p:spPr>
          <a:xfrm>
            <a:off x="8092440" y="4828032"/>
            <a:ext cx="100584" cy="100584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4782312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Organizes topics into manageable review paths.</a:t>
            </a:r>
          </a:p>
        </p:txBody>
      </p:sp>
      <p:sp>
        <p:nvSpPr>
          <p:cNvPr id="42" name="Oval 41"/>
          <p:cNvSpPr/>
          <p:nvPr/>
        </p:nvSpPr>
        <p:spPr>
          <a:xfrm>
            <a:off x="8092440" y="5541264"/>
            <a:ext cx="100584" cy="100584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5495544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C"/>
                </a:solidFill>
                <a:latin typeface="Aptos"/>
              </a:rPr>
              <a:t>Supports consistent revision instead of last-minute cramming.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5046"/>
            <a:ext cx="4114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4BDCFF"/>
                </a:solidFill>
                <a:latin typeface="Aptos"/>
              </a:rPr>
              <a:t>08  • 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C"/>
                </a:solidFill>
                <a:latin typeface="Aptos Display"/>
              </a:rPr>
              <a:t>One Product. The Complete Learning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Every feature has a role — together they create a continuous learning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2724912"/>
            <a:ext cx="320040" cy="32004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C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301752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C9"/>
                </a:solidFill>
                <a:latin typeface="Aptos"/>
              </a:rPr>
              <a:t>Build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803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B1C9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51460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35808" y="2724912"/>
            <a:ext cx="320040" cy="32004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C"/>
                </a:solidFill>
                <a:latin typeface="Aptos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01752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C9"/>
                </a:solidFill>
                <a:latin typeface="Aptos"/>
              </a:rPr>
              <a:t>Resolve doubts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803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B1C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51460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F5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76088" y="2724912"/>
            <a:ext cx="320040" cy="320040"/>
          </a:xfrm>
          <a:prstGeom prst="ellipse">
            <a:avLst/>
          </a:prstGeom>
          <a:solidFill>
            <a:srgbClr val="F566BE"/>
          </a:solidFill>
          <a:ln>
            <a:solidFill>
              <a:srgbClr val="F5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87568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C"/>
                </a:solidFill>
                <a:latin typeface="Aptos"/>
              </a:rPr>
              <a:t>SIMPLIFY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301752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C9"/>
                </a:solidFill>
                <a:latin typeface="Aptos"/>
              </a:rP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8803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B1C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51460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16368" y="2724912"/>
            <a:ext cx="320040" cy="320040"/>
          </a:xfrm>
          <a:prstGeom prst="ellipse">
            <a:avLst/>
          </a:prstGeom>
          <a:solidFill>
            <a:srgbClr val="5CE8A6"/>
          </a:solidFill>
          <a:ln>
            <a:solidFill>
              <a:srgbClr val="5CE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C"/>
                </a:solidFill>
                <a:latin typeface="Aptos"/>
              </a:rPr>
              <a:t>QUIZ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301752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C9"/>
                </a:solidFill>
                <a:latin typeface="Aptos"/>
              </a:rPr>
              <a:t>Practice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8803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B1C9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51460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756648" y="2724912"/>
            <a:ext cx="320040" cy="32004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68128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C"/>
                </a:solidFill>
                <a:latin typeface="Aptos"/>
              </a:rPr>
              <a:t>REVISE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301752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C9"/>
                </a:solidFill>
                <a:latin typeface="Aptos"/>
              </a:rPr>
              <a:t>Retain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572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BDCFF"/>
                </a:solidFill>
                <a:latin typeface="Aptos"/>
              </a:rPr>
              <a:t>↻  CONTINUE LEARNING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166360"/>
            <a:ext cx="6720840" cy="658368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71800" y="5358384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7FC"/>
                </a:solidFill>
                <a:latin typeface="Aptos"/>
              </a:rPr>
              <a:t>Notes become context.  Context becomes interaction.  Interaction becomes practice.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640080"/>
            <a:ext cx="2743200" cy="274320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286000" cy="2286000"/>
          </a:xfrm>
          <a:prstGeom prst="ellipse">
            <a:avLst/>
          </a:prstGeom>
          <a:solidFill>
            <a:srgbClr val="4BDCFF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29260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BDCFF"/>
                </a:solidFill>
                <a:latin typeface="Aptos"/>
              </a:rPr>
              <a:t>PROJECT LUMI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943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F7FC"/>
                </a:solidFill>
                <a:latin typeface="Aptos"/>
              </a:rPr>
              <a:t>From notes to
understanding.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6B1C9"/>
                </a:solidFill>
                <a:latin typeface="Aptos"/>
              </a:rPr>
              <a:t>Lumi brings explanation, interaction, practice, and revision into one connected learning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143000"/>
            <a:ext cx="4297680" cy="4480560"/>
          </a:xfrm>
          <a:prstGeom prst="roundRect">
            <a:avLst>
              <a:gd name="adj" fmla="val 12000"/>
            </a:avLst>
          </a:prstGeom>
          <a:solidFill>
            <a:srgbClr val="141D37"/>
          </a:solidFill>
          <a:ln>
            <a:solidFill>
              <a:srgbClr val="14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49640" y="1645920"/>
            <a:ext cx="1097280" cy="1097280"/>
          </a:xfrm>
          <a:prstGeom prst="ellipse">
            <a:avLst/>
          </a:prstGeom>
          <a:solidFill>
            <a:srgbClr val="966EFF"/>
          </a:solidFill>
          <a:ln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874519"/>
            <a:ext cx="1097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5F7FC"/>
                </a:solidFill>
                <a:latin typeface="Aptos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063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BDCFF"/>
                </a:solidFill>
                <a:latin typeface="Aptos"/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56616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7FC"/>
                </a:solidFill>
                <a:latin typeface="Aptos"/>
              </a:rPr>
              <a:t>ASK  •  SIMPLIFY  •  PRACTICE  •  REVISE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434840"/>
            <a:ext cx="3108960" cy="530352"/>
          </a:xfrm>
          <a:prstGeom prst="roundRect">
            <a:avLst>
              <a:gd name="adj" fmla="val 12000"/>
            </a:avLst>
          </a:prstGeom>
          <a:solidFill>
            <a:srgbClr val="1B2646"/>
          </a:solidFill>
          <a:ln>
            <a:solidFill>
              <a:srgbClr val="1B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4590288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CE8A6"/>
                </a:solidFill>
                <a:latin typeface="Aptos"/>
              </a:rPr>
              <a:t>Learning, connected.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Learning Using Multiple Inferences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C9"/>
                </a:solidFill>
                <a:latin typeface="Aptos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73952"/>
            <a:ext cx="25603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4BDCFF"/>
                </a:solidFill>
                <a:latin typeface="Aptos"/>
              </a:rPr>
              <a:t>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659</Words>
  <Application>Microsoft Office PowerPoint</Application>
  <PresentationFormat>Widescreen</PresentationFormat>
  <Paragraphs>171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Khushi Pareek</cp:lastModifiedBy>
  <cp:revision>2</cp:revision>
  <dcterms:created xsi:type="dcterms:W3CDTF">2013-01-27T09:14:16Z</dcterms:created>
  <dcterms:modified xsi:type="dcterms:W3CDTF">2026-09-20T05:50:53Z</dcterms:modified>
  <cp:category/>
</cp:coreProperties>
</file>